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200" b="1">
                <a:solidFill>
                  <a:srgbClr val="FFFFFF"/>
                </a:solidFill>
              </a:defRPr>
            </a:pPr>
            <a:r>
              <a:t>ABLE++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C8C8C8"/>
                </a:solidFill>
              </a:defRPr>
            </a:pPr>
            <a:r>
              <a:t>Adaptive Beamforming by Deep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What We Did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3657600" cy="5029200"/>
          </a:xfrm>
          <a:prstGeom prst="rect">
            <a:avLst/>
          </a:prstGeom>
          <a:solidFill>
            <a:srgbClr val="C8E6FF"/>
          </a:solidFill>
          <a:ln w="3810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2400" b="1">
                <a:solidFill>
                  <a:srgbClr val="003366"/>
                </a:solidFill>
              </a:defRPr>
            </a:pPr>
            <a:r>
              <a:t>✅ TRAINED</a:t>
            </a:r>
          </a:p>
          <a:p>
            <a:pPr algn="ctr">
              <a:defRPr sz="2400" b="1">
                <a:solidFill>
                  <a:srgbClr val="003366"/>
                </a:solidFill>
              </a:defRPr>
            </a:pPr>
          </a:p>
          <a:p>
            <a:pPr algn="ctr">
              <a:defRPr sz="2400" b="1">
                <a:solidFill>
                  <a:srgbClr val="003366"/>
                </a:solidFill>
              </a:defRPr>
            </a:pPr>
            <a:r>
              <a:t>MLP Network</a:t>
            </a:r>
          </a:p>
          <a:p>
            <a:pPr algn="ctr">
              <a:defRPr sz="2400" b="1">
                <a:solidFill>
                  <a:srgbClr val="003366"/>
                </a:solidFill>
              </a:defRPr>
            </a:pPr>
          </a:p>
          <a:p>
            <a:pPr algn="ctr">
              <a:defRPr sz="2400" b="1">
                <a:solidFill>
                  <a:srgbClr val="003366"/>
                </a:solidFill>
              </a:defRPr>
            </a:pPr>
            <a:r>
              <a:t>16.7M parameters</a:t>
            </a:r>
          </a:p>
          <a:p>
            <a:pPr algn="ctr">
              <a:defRPr sz="2400" b="1">
                <a:solidFill>
                  <a:srgbClr val="003366"/>
                </a:solidFill>
              </a:defRPr>
            </a:pPr>
          </a:p>
          <a:p>
            <a:pPr algn="ctr">
              <a:defRPr sz="2400" b="1">
                <a:solidFill>
                  <a:srgbClr val="003366"/>
                </a:solidFill>
              </a:defRPr>
            </a:pPr>
            <a:r>
              <a:t>Learns adaptive</a:t>
            </a:r>
          </a:p>
          <a:p>
            <a:pPr algn="ctr">
              <a:defRPr sz="2400" b="1">
                <a:solidFill>
                  <a:srgbClr val="003366"/>
                </a:solidFill>
              </a:defRPr>
            </a:pPr>
            <a:r>
              <a:t>receive weights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3657600" cy="5029200"/>
          </a:xfrm>
          <a:prstGeom prst="rect">
            <a:avLst/>
          </a:prstGeom>
          <a:solidFill>
            <a:srgbClr val="FFDCDC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defRPr sz="2400" b="1">
                <a:solidFill>
                  <a:srgbClr val="CC0000"/>
                </a:solidFill>
              </a:defRPr>
            </a:pPr>
            <a:r>
              <a:t>❌ FROZEN</a:t>
            </a:r>
          </a:p>
          <a:p>
            <a:pPr algn="ctr">
              <a:defRPr sz="2400" b="1">
                <a:solidFill>
                  <a:srgbClr val="CC0000"/>
                </a:solidFill>
              </a:defRPr>
            </a:pPr>
          </a:p>
          <a:p>
            <a:pPr algn="ctr">
              <a:defRPr sz="2400" b="1">
                <a:solidFill>
                  <a:srgbClr val="CC0000"/>
                </a:solidFill>
              </a:defRPr>
            </a:pPr>
            <a:r>
              <a:t>Physics Engine</a:t>
            </a:r>
          </a:p>
          <a:p>
            <a:pPr algn="ctr">
              <a:defRPr sz="2400" b="1">
                <a:solidFill>
                  <a:srgbClr val="CC0000"/>
                </a:solidFill>
              </a:defRPr>
            </a:pPr>
          </a:p>
          <a:p>
            <a:pPr algn="ctr">
              <a:defRPr sz="2400" b="1">
                <a:solidFill>
                  <a:srgbClr val="CC0000"/>
                </a:solidFill>
              </a:defRPr>
            </a:pPr>
            <a:r>
              <a:t>0 parameters</a:t>
            </a:r>
          </a:p>
          <a:p>
            <a:pPr algn="ctr">
              <a:defRPr sz="2400" b="1">
                <a:solidFill>
                  <a:srgbClr val="CC0000"/>
                </a:solidFill>
              </a:defRPr>
            </a:pPr>
          </a:p>
          <a:p>
            <a:pPr algn="ctr">
              <a:defRPr sz="2400" b="1">
                <a:solidFill>
                  <a:srgbClr val="CC0000"/>
                </a:solidFill>
              </a:defRPr>
            </a:pPr>
            <a:r>
              <a:t>Validated</a:t>
            </a:r>
          </a:p>
          <a:p>
            <a:pPr algn="ctr">
              <a:defRPr sz="2400" b="1">
                <a:solidFill>
                  <a:srgbClr val="CC0000"/>
                </a:solidFill>
              </a:defRPr>
            </a:pPr>
            <a:r>
              <a:t>by professor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How It Works: The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1645920" cy="731520"/>
          </a:xfrm>
          <a:prstGeom prst="rect">
            <a:avLst/>
          </a:prstGeom>
          <a:solidFill>
            <a:srgbClr val="0066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Ground</a:t>
            </a:r>
          </a:p>
          <a:p>
            <a:r>
              <a:t>Truth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03120" y="1737360"/>
            <a:ext cx="182880" cy="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2743200" y="1371600"/>
            <a:ext cx="1645920" cy="731520"/>
          </a:xfrm>
          <a:prstGeom prst="rect">
            <a:avLst/>
          </a:prstGeom>
          <a:solidFill>
            <a:srgbClr val="0066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Forward</a:t>
            </a:r>
          </a:p>
          <a:p>
            <a:r>
              <a:t>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389120" y="1737360"/>
            <a:ext cx="182880" cy="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029200" y="1371600"/>
            <a:ext cx="1645920" cy="731520"/>
          </a:xfrm>
          <a:prstGeom prst="rect">
            <a:avLst/>
          </a:prstGeom>
          <a:solidFill>
            <a:srgbClr val="0066CC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DAS</a:t>
            </a:r>
          </a:p>
          <a:p>
            <a:r>
              <a:t>Adjoint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675120" y="1737360"/>
            <a:ext cx="182880" cy="0"/>
          </a:xfrm>
          <a:prstGeom prst="line">
            <a:avLst/>
          </a:prstGeom>
          <a:ln w="25400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315200" y="1371600"/>
            <a:ext cx="1645920" cy="731520"/>
          </a:xfrm>
          <a:prstGeom prst="rect">
            <a:avLst/>
          </a:prstGeom>
          <a:solidFill>
            <a:srgbClr val="3399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MLP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371600"/>
            <a:ext cx="1645920" cy="731520"/>
          </a:xfrm>
          <a:prstGeom prst="rect">
            <a:avLst/>
          </a:prstGeom>
          <a:solidFill>
            <a:srgbClr val="33996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Loss &amp;</a:t>
            </a:r>
          </a:p>
          <a:p>
            <a: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743200"/>
            <a:ext cx="8229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🔵 Frozen (Physics):  Ground Truth → Forward Model → DAS Adjoint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  No parameters, no gradients flow through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🟢 Trained (Neural Network):  DAS Adjoint → MLP → Loss &amp; Update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    16.7M parameters, gradients update weights only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  <a:r>
              <a:t>Result:  Only MLP weights change. Physics stays the same.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500">
                <a:solidFill>
                  <a:srgbClr val="404040"/>
                </a:solidFill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Objective Function: Why We Train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L_total = 0.8 × L_SMSLE + 0.2 × L_unity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468880"/>
            <a:ext cx="4114800" cy="3657600"/>
          </a:xfrm>
          <a:prstGeom prst="rect">
            <a:avLst/>
          </a:prstGeom>
          <a:solidFill>
            <a:srgbClr val="FFFAC8"/>
          </a:solidFill>
          <a:ln w="25400">
            <a:solidFill>
              <a:srgbClr val="C89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80% - L_SMSLE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Reconstruction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Accuracy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Makes image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match ground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truth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2468880"/>
            <a:ext cx="3657600" cy="3657600"/>
          </a:xfrm>
          <a:prstGeom prst="rect">
            <a:avLst/>
          </a:prstGeom>
          <a:solidFill>
            <a:srgbClr val="C8FFC8"/>
          </a:solidFill>
          <a:ln w="254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0" lIns="182880" rIns="182880"/>
          <a:lstStyle/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20% - L_unity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Physical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Constraint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Weights sum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to ~1.0</a:t>
            </a:r>
          </a:p>
          <a:p>
            <a:pPr algn="ctr">
              <a:spcBef>
                <a:spcPts val="300"/>
              </a:spcBef>
              <a:defRPr sz="1800" b="1">
                <a:solidFill>
                  <a:srgbClr val="404040"/>
                </a:solidFill>
              </a:defRPr>
            </a:pPr>
            <a:r>
              <a:t>per pixel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6CC"/>
          </a:solidFill>
          <a:ln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Results: 92.8%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solidFill>
            <a:srgbClr val="FFDCDC"/>
          </a:solidFill>
          <a:ln w="38100">
            <a:solidFill>
              <a:srgbClr val="CC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  <a:r>
              <a:t>DAS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  <a:r>
              <a:t>(Baseline)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  <a:r>
              <a:t>Uniform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  <a:r>
              <a:t>weights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  <a:r>
              <a:t>MAE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CC0000"/>
                </a:solidFill>
              </a:defRPr>
            </a:pPr>
            <a:r>
              <a:t>17,500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1188720"/>
            <a:ext cx="3657600" cy="5029200"/>
          </a:xfrm>
          <a:prstGeom prst="rect">
            <a:avLst/>
          </a:prstGeom>
          <a:solidFill>
            <a:srgbClr val="C8FFC8"/>
          </a:solidFill>
          <a:ln w="38100">
            <a:solidFill>
              <a:srgbClr val="3399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182880" rIns="182880"/>
          <a:lstStyle/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  <a:r>
              <a:t>ABLE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  <a:r>
              <a:t>(Learned)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  <a:r>
              <a:t>Adaptive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  <a:r>
              <a:t>weights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  <a:r>
              <a:t>MAE</a:t>
            </a:r>
          </a:p>
          <a:p>
            <a:pPr algn="ctr">
              <a:spcBef>
                <a:spcPts val="400"/>
              </a:spcBef>
              <a:spcAft>
                <a:spcPts val="400"/>
              </a:spcAft>
              <a:defRPr sz="2800" b="1">
                <a:solidFill>
                  <a:srgbClr val="339966"/>
                </a:solidFill>
              </a:defRPr>
            </a:pPr>
            <a:r>
              <a:t>1,260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630936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339966"/>
                </a:solidFill>
              </a:defRPr>
            </a:pPr>
            <a:r>
              <a:t>✅ 92.8%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